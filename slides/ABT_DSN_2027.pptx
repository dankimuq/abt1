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41080" y="0"/>
            <a:ext cx="91440" cy="6858000"/>
          </a:xfrm>
          <a:prstGeom prst="rect">
            <a:avLst/>
          </a:prstGeom>
          <a:solidFill>
            <a:srgbClr val="4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7223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DD6E5"/>
                </a:solidFill>
                <a:latin typeface="Aptos"/>
              </a:rPr>
              <a:t>RESEARCH-IN-PROGRESS  /  DSN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81328"/>
            <a:ext cx="20116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 i="0">
                <a:solidFill>
                  <a:srgbClr val="4DD6E5"/>
                </a:solidFill>
                <a:latin typeface="Aptos"/>
              </a:rPr>
              <a:t>ABT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7406640" cy="1874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4F7FB"/>
                </a:solidFill>
                <a:latin typeface="Aptos"/>
              </a:rPr>
              <a:t>Goal-Aware Automated
Blue Teaming for
Multi-Host Attack Campaigns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526280"/>
            <a:ext cx="72237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AAB7C8"/>
                </a:solidFill>
                <a:latin typeface="Aptos"/>
              </a:rPr>
              <a:t>Simulate candidate network and host defenses before deployment; adapt to observed attacker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08076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7C8"/>
                </a:solidFill>
                <a:latin typeface="Aptos"/>
              </a:rPr>
              <a:t>Authors and affiliations to be finalized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024128"/>
            <a:ext cx="1115568" cy="530352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FF7B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6024" y="117043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7B86"/>
                </a:solidFill>
                <a:latin typeface="Aptos"/>
              </a:rPr>
              <a:t>ATTACKER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88752" y="2121408"/>
            <a:ext cx="1115568" cy="530352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43616" y="226771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66D"/>
                </a:solidFill>
                <a:latin typeface="Aptos"/>
              </a:rPr>
              <a:t>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53728" y="3364992"/>
            <a:ext cx="1115568" cy="530352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4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3511296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DD6E5"/>
                </a:solidFill>
                <a:latin typeface="Aptos"/>
              </a:rPr>
              <a:t>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1904" y="4590288"/>
            <a:ext cx="1115568" cy="530352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73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16768" y="473659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73D7A5"/>
                </a:solidFill>
                <a:latin typeface="Aptos"/>
              </a:rPr>
              <a:t>ASSET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5486400"/>
            <a:ext cx="1115568" cy="530352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5D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5632704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D8CFF"/>
                </a:solidFill>
                <a:latin typeface="Aptos"/>
              </a:rPr>
              <a:t>ABT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14432" y="1426464"/>
            <a:ext cx="338328" cy="603504"/>
          </a:xfrm>
          <a:prstGeom prst="line">
            <a:avLst/>
          </a:prstGeom>
          <a:ln w="25400">
            <a:solidFill>
              <a:srgbClr val="2C3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875520" y="2724912"/>
            <a:ext cx="731520" cy="585216"/>
          </a:xfrm>
          <a:prstGeom prst="line">
            <a:avLst/>
          </a:prstGeom>
          <a:ln w="25400">
            <a:solidFill>
              <a:srgbClr val="2C3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59568" y="3895344"/>
            <a:ext cx="457200" cy="630936"/>
          </a:xfrm>
          <a:prstGeom prst="line">
            <a:avLst/>
          </a:prstGeom>
          <a:ln w="25400">
            <a:solidFill>
              <a:srgbClr val="2C3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040112" y="5148072"/>
            <a:ext cx="676656" cy="301752"/>
          </a:xfrm>
          <a:prstGeom prst="line">
            <a:avLst/>
          </a:prstGeom>
          <a:ln w="25400">
            <a:solidFill>
              <a:srgbClr val="2C3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01 /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Autonomous attacks compress the response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The research problem is not only detecting an intrusion; it is choosing a safe, effective response across the network.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3429000" cy="19385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50292" cy="1938528"/>
          </a:xfrm>
          <a:prstGeom prst="rect">
            <a:avLst/>
          </a:prstGeom>
          <a:solidFill>
            <a:srgbClr val="FF7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39112"/>
            <a:ext cx="30449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7B86"/>
                </a:solidFill>
                <a:latin typeface="Aptos"/>
              </a:rPr>
              <a:t>01  Campaigns are multi-host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68879"/>
            <a:ext cx="3044952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FB"/>
                </a:solidFill>
                <a:latin typeface="Aptos"/>
              </a:rPr>
              <a:t>LLM-assisted agents plan, execute, and pivot across hosts. A local alert can imply network-wide risk. [3, 4]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74519"/>
            <a:ext cx="3429000" cy="19385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74519"/>
            <a:ext cx="50292" cy="1938528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39112"/>
            <a:ext cx="30449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02  Defenses have side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79"/>
            <a:ext cx="3044952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FB"/>
                </a:solidFill>
                <a:latin typeface="Aptos"/>
              </a:rPr>
              <a:t>Blocking or isolating can disrupt legitimate workflows, availability, and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74519"/>
            <a:ext cx="3429000" cy="19385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874519"/>
            <a:ext cx="50292" cy="1938528"/>
          </a:xfrm>
          <a:prstGeom prst="rect">
            <a:avLst/>
          </a:prstGeom>
          <a:solidFill>
            <a:srgbClr val="4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039112"/>
            <a:ext cx="30449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DD6E5"/>
                </a:solidFill>
                <a:latin typeface="Aptos"/>
              </a:rPr>
              <a:t>03  Static rules miss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468879"/>
            <a:ext cx="3044952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FB"/>
                </a:solidFill>
                <a:latin typeface="Aptos"/>
              </a:rPr>
              <a:t>The best control depends on the target asset, reachable attack paths, and operational constraints.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24528"/>
            <a:ext cx="10853928" cy="1353312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498848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4831" y="4407408"/>
            <a:ext cx="8887968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4F7FB"/>
                </a:solidFill>
                <a:latin typeface="Aptos"/>
              </a:rPr>
              <a:t>Treat defense as a constrained planning problem: model the attack surface, simulate candidate actions, then adapt from observed outcomes.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925312"/>
            <a:ext cx="10698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C66D"/>
                </a:solidFill>
                <a:latin typeface="Aptos"/>
              </a:rPr>
              <a:t>Evidence so far is a runnable prototype and synthetic-network demonstration—not a validated operational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01 /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Research gap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The proposed contribution is the closed-loop integration—not a new detector, exploit, or MTD technique.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657600" cy="333756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50292" cy="3337560"/>
          </a:xfrm>
          <a:prstGeom prst="rect">
            <a:avLst/>
          </a:prstGeom>
          <a:solidFill>
            <a:srgbClr val="5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93392"/>
            <a:ext cx="3273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D8CFF"/>
                </a:solidFill>
                <a:latin typeface="Aptos"/>
              </a:rPr>
              <a:t>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23160"/>
            <a:ext cx="3273552" cy="26060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F7FB"/>
                </a:solidFill>
                <a:latin typeface="Aptos"/>
              </a:rPr>
              <a:t>Attack-graph methods assess reachability and risk.
Network controls enforce access and containment.
Autonomous red-team agents provide repeatable campaigns.
What is missing here: a shared model that selects among defenses while respecting service constraints and learning from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0288" y="1828800"/>
            <a:ext cx="2194560" cy="14813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90288" y="1828800"/>
            <a:ext cx="50292" cy="1481328"/>
          </a:xfrm>
          <a:prstGeom prst="rect">
            <a:avLst/>
          </a:prstGeom>
          <a:solidFill>
            <a:srgbClr val="4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5" y="19933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DD6E5"/>
                </a:solidFill>
                <a:latin typeface="Aptos"/>
              </a:rPr>
              <a:t>RQ1 ·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5" y="2423160"/>
            <a:ext cx="181051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Does planning reduce goal success versus baselines?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22592" y="1828800"/>
            <a:ext cx="2194560" cy="14813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22592" y="1828800"/>
            <a:ext cx="50292" cy="1481328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9933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RQ2 · QoS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423160"/>
            <a:ext cx="181051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What availability, latency, and performance costs follow?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54896" y="1828800"/>
            <a:ext cx="2194560" cy="14813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54896" y="1828800"/>
            <a:ext cx="50292" cy="1481328"/>
          </a:xfrm>
          <a:prstGeom prst="rect">
            <a:avLst/>
          </a:prstGeom>
          <a:solidFill>
            <a:srgbClr val="73D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19933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3D7A5"/>
                </a:solidFill>
                <a:latin typeface="Aptos"/>
              </a:rPr>
              <a:t>RQ3 ·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2423160"/>
            <a:ext cx="181051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How does planning scale with hosts, flows, and goals?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3675887"/>
            <a:ext cx="3273552" cy="14813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90288" y="3675887"/>
            <a:ext cx="50292" cy="1481328"/>
          </a:xfrm>
          <a:prstGeom prst="rect">
            <a:avLst/>
          </a:prstGeom>
          <a:solidFill>
            <a:srgbClr val="5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1455" y="3840479"/>
            <a:ext cx="28895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D8CFF"/>
                </a:solidFill>
                <a:latin typeface="Aptos"/>
              </a:rPr>
              <a:t>RQ4 · Adaptation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5" y="4270248"/>
            <a:ext cx="2889504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How quickly does feedback improve the defensive state?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3675887"/>
            <a:ext cx="3529584" cy="14813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9872" y="3675887"/>
            <a:ext cx="50292" cy="1481328"/>
          </a:xfrm>
          <a:prstGeom prst="rect">
            <a:avLst/>
          </a:prstGeom>
          <a:solidFill>
            <a:srgbClr val="FF7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840479"/>
            <a:ext cx="3145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7B86"/>
                </a:solidFill>
                <a:latin typeface="Aptos"/>
              </a:rPr>
              <a:t>RQ5 · Robustness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270248"/>
            <a:ext cx="3145536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How sensitive are decisions to uncertain attack and detection probabilities?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02 /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Related work: useful components, open integration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ABT draws on attack-graph assessment, red-team automation, and network-security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810512"/>
            <a:ext cx="1965960" cy="438912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10512"/>
            <a:ext cx="1874519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Line of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5" y="1810512"/>
            <a:ext cx="2926080" cy="438912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8335" y="1810512"/>
            <a:ext cx="283464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Representative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68696" y="1810512"/>
            <a:ext cx="3200400" cy="438912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1810512"/>
            <a:ext cx="310896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What it contributes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9096" y="1810512"/>
            <a:ext cx="2743200" cy="438912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4816" y="1810512"/>
            <a:ext cx="265176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ABT 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2286000"/>
            <a:ext cx="196596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13432"/>
            <a:ext cx="1856231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66D"/>
                </a:solidFill>
                <a:latin typeface="Aptos"/>
              </a:rPr>
              <a:t>Attack graphs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2615" y="2286000"/>
            <a:ext cx="292608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79" y="2313432"/>
            <a:ext cx="281635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HARMer [1]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8696" y="2286000"/>
            <a:ext cx="320040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59" y="2313432"/>
            <a:ext cx="309067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Hierarchical attack representation and risk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69096" y="2286000"/>
            <a:ext cx="274320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313432"/>
            <a:ext cx="263347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Use HARM as planning substrate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3108960"/>
            <a:ext cx="196596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36391"/>
            <a:ext cx="1856231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66D"/>
                </a:solidFill>
                <a:latin typeface="Aptos"/>
              </a:rPr>
              <a:t>Asset 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42615" y="3108960"/>
            <a:ext cx="292608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79" y="3136391"/>
            <a:ext cx="281635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Enoch et al. [2]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68696" y="3108960"/>
            <a:ext cx="320040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59" y="3136391"/>
            <a:ext cx="309067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Value- and requirement-aware security assessment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69096" y="3108960"/>
            <a:ext cx="274320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3136391"/>
            <a:ext cx="263347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Add availability / performance constraints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" y="3931920"/>
            <a:ext cx="196596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959352"/>
            <a:ext cx="1856231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66D"/>
                </a:solidFill>
                <a:latin typeface="Aptos"/>
              </a:rPr>
              <a:t>Automated red teams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42615" y="3931920"/>
            <a:ext cx="292608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79" y="3959352"/>
            <a:ext cx="281635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Incalmo; APT-Agent [3, 4]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8696" y="3931920"/>
            <a:ext cx="320040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59" y="3959352"/>
            <a:ext cx="309067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Multi-host attack planning and execution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69096" y="3931920"/>
            <a:ext cx="274320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3959352"/>
            <a:ext cx="263347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Use adapters; live integration remains future 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" y="4754880"/>
            <a:ext cx="196596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782312"/>
            <a:ext cx="1856231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66D"/>
                </a:solidFill>
                <a:latin typeface="Aptos"/>
              </a:rPr>
              <a:t>Benchmarks / network architecture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42615" y="4754880"/>
            <a:ext cx="292608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97479" y="4782312"/>
            <a:ext cx="281635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MHBench; NIST [5–7]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8696" y="4754880"/>
            <a:ext cx="320040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59" y="4782312"/>
            <a:ext cx="309067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Reusable cyber ranges; enterprise and zero-trust network guidance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69096" y="4754880"/>
            <a:ext cx="274320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4782312"/>
            <a:ext cx="263347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Import topologies; model enforceable controls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669280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B"/>
                </a:solidFill>
                <a:latin typeface="Aptos"/>
              </a:rPr>
              <a:t>Positioning: combine goal-aware attack-path risk, QoS-constrained action planning, and repeated feedback in one evaluation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03 / PROPOSED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System model and threat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Initial scope: one modeled enterprise network, a known asset/goal set, and an adaptive but bounded red-team campaign.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3246120" cy="146304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50292" cy="1463040"/>
          </a:xfrm>
          <a:prstGeom prst="rect">
            <a:avLst/>
          </a:prstGeom>
          <a:solidFill>
            <a:srgbClr val="4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75104"/>
            <a:ext cx="2862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DD6E5"/>
                </a:solidFill>
                <a:latin typeface="Aptos"/>
              </a:rPr>
              <a:t>Defender knows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04872"/>
            <a:ext cx="28620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Topology, services, candidate vulnerabilities, asset values, and legitimate 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38728"/>
            <a:ext cx="3246120" cy="146304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538728"/>
            <a:ext cx="50292" cy="1463040"/>
          </a:xfrm>
          <a:prstGeom prst="rect">
            <a:avLst/>
          </a:prstGeom>
          <a:solidFill>
            <a:srgbClr val="FF7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703320"/>
            <a:ext cx="2862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7B86"/>
                </a:solidFill>
                <a:latin typeface="Aptos"/>
              </a:rPr>
              <a:t>Attacker 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133088"/>
            <a:ext cx="286207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Enter at modeled entry points, exploit reachable vulnerabilities, pivot, and pursue declared goals.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66944"/>
            <a:ext cx="3246120" cy="74980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266944"/>
            <a:ext cx="50292" cy="749808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31536"/>
            <a:ext cx="2862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Out of scope initially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861304"/>
            <a:ext cx="2862072" cy="182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B"/>
                </a:solidFill>
                <a:latin typeface="Aptos"/>
              </a:rPr>
              <a:t>Unknown zero-days; production actuation; human deception of attacker.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057400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FF7B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240280"/>
            <a:ext cx="1389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7B86"/>
                </a:solidFill>
                <a:latin typeface="Aptos"/>
              </a:rPr>
              <a:t>Internet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057400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240280"/>
            <a:ext cx="1389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C66D"/>
                </a:solidFill>
                <a:latin typeface="Aptos"/>
              </a:rPr>
              <a:t>Web / DMZ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68512" y="2057400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4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2240280"/>
            <a:ext cx="1389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DD6E5"/>
                </a:solidFill>
                <a:latin typeface="Aptos"/>
              </a:rPr>
              <a:t>App tier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97312" y="3767328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73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3032" y="3950208"/>
            <a:ext cx="1389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3D7A5"/>
                </a:solidFill>
                <a:latin typeface="Aptos"/>
              </a:rPr>
              <a:t>DB asset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3767328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5D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950208"/>
            <a:ext cx="1389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D8CFF"/>
                </a:solidFill>
                <a:latin typeface="Aptos"/>
              </a:rPr>
              <a:t>File tier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767328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5D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950208"/>
            <a:ext cx="1389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D8CFF"/>
                </a:solidFill>
                <a:latin typeface="Aptos"/>
              </a:rPr>
              <a:t>Identity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71616" y="2377440"/>
            <a:ext cx="539496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119872" y="2377440"/>
            <a:ext cx="521208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912096" y="2615184"/>
            <a:ext cx="832104" cy="1088136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06640" y="2688336"/>
            <a:ext cx="731520" cy="1014984"/>
          </a:xfrm>
          <a:prstGeom prst="line">
            <a:avLst/>
          </a:prstGeom>
          <a:ln w="25400">
            <a:solidFill>
              <a:srgbClr val="2C3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358384" y="2697480"/>
            <a:ext cx="630936" cy="1005840"/>
          </a:xfrm>
          <a:prstGeom prst="line">
            <a:avLst/>
          </a:prstGeom>
          <a:ln w="25400">
            <a:solidFill>
              <a:srgbClr val="2C3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34840" y="4901184"/>
            <a:ext cx="6858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AB7C8"/>
                </a:solidFill>
                <a:latin typeface="Aptos"/>
              </a:rPr>
              <a:t>Each edge is permitted connectivity; each destination service contributes exploit risk.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413248"/>
            <a:ext cx="6812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Question to validate: how much topology / exploit-state fidelity is sufficient for safe action ranking?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03 / PROPOSED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ABT: model → simulate → recommend → observe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A common network representation lets benchmark topologies and defense actions use the same planner.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40280"/>
            <a:ext cx="1993392" cy="1700784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40280"/>
            <a:ext cx="50292" cy="1700784"/>
          </a:xfrm>
          <a:prstGeom prst="rect">
            <a:avLst/>
          </a:prstGeom>
          <a:solidFill>
            <a:srgbClr val="5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404872"/>
            <a:ext cx="160934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D8CFF"/>
                </a:solidFill>
                <a:latin typeface="Aptos"/>
              </a:rPr>
              <a:t>1 ·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34640"/>
            <a:ext cx="1609344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MHBench / APT topology
→ Network IR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3081528"/>
            <a:ext cx="146304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2240280"/>
            <a:ext cx="1993392" cy="1700784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240280"/>
            <a:ext cx="50292" cy="1700784"/>
          </a:xfrm>
          <a:prstGeom prst="rect">
            <a:avLst/>
          </a:prstGeom>
          <a:solidFill>
            <a:srgbClr val="4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404872"/>
            <a:ext cx="160934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DD6E5"/>
                </a:solidFill>
                <a:latin typeface="Aptos"/>
              </a:rPr>
              <a:t>2 ·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834640"/>
            <a:ext cx="1609344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Assets + flows + services
+ vulnerabilities + goals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0" y="3081528"/>
            <a:ext cx="146304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10912" y="2240280"/>
            <a:ext cx="1993392" cy="1700784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0912" y="2240280"/>
            <a:ext cx="50292" cy="1700784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404872"/>
            <a:ext cx="160934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3 · 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834640"/>
            <a:ext cx="1609344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HARM paths + weighted
goal-achievement risk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22592" y="3081528"/>
            <a:ext cx="146304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87184" y="2240280"/>
            <a:ext cx="1993392" cy="1700784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87184" y="2240280"/>
            <a:ext cx="50292" cy="1700784"/>
          </a:xfrm>
          <a:prstGeom prst="rect">
            <a:avLst/>
          </a:prstGeom>
          <a:solidFill>
            <a:srgbClr val="73D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2404872"/>
            <a:ext cx="160934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3D7A5"/>
                </a:solidFill>
                <a:latin typeface="Aptos"/>
              </a:rPr>
              <a:t>4 ·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2834640"/>
            <a:ext cx="1609344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Simulate action sets;
score utility and constraints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98864" y="3081528"/>
            <a:ext cx="146304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63456" y="2240280"/>
            <a:ext cx="1993392" cy="1700784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63456" y="2240280"/>
            <a:ext cx="50292" cy="1700784"/>
          </a:xfrm>
          <a:prstGeom prst="rect">
            <a:avLst/>
          </a:prstGeom>
          <a:solidFill>
            <a:srgbClr val="FF7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2404872"/>
            <a:ext cx="160934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7B86"/>
                </a:solidFill>
                <a:latin typeface="Aptos"/>
              </a:rPr>
              <a:t>5 · Observe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2834640"/>
            <a:ext cx="1609344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Attack result + MIR-like
detection → re-plan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08576"/>
            <a:ext cx="9921240" cy="896112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4901184"/>
            <a:ext cx="16276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66D"/>
                </a:solidFill>
                <a:latin typeface="Aptos"/>
              </a:rPr>
              <a:t>Safety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7248" y="4791456"/>
            <a:ext cx="7498079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7FB"/>
                </a:solidFill>
                <a:latin typeface="Aptos"/>
              </a:rPr>
              <a:t>Prototype mutates a simulated copy only. Real-world enforcement requires a separately validated controller and human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03 / PROPOSED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Network-level defenses beyond MTD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The current model has a basic permitted-flow set. The following portfolio is a proposed extension—not yet implemented.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10512"/>
            <a:ext cx="2103120" cy="402336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10512"/>
            <a:ext cx="2029967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Mode /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810512"/>
            <a:ext cx="3063240" cy="402336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1810512"/>
            <a:ext cx="2990088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Defensive 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24728" y="1810512"/>
            <a:ext cx="3246120" cy="402336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1304" y="1810512"/>
            <a:ext cx="3172968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Simulator + deployment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0848" y="1810512"/>
            <a:ext cx="2103120" cy="402336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1810512"/>
            <a:ext cx="2029967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Selection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67712"/>
            <a:ext cx="2103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1488" y="2267712"/>
            <a:ext cx="306324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24728" y="2267712"/>
            <a:ext cx="3246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0848" y="2267712"/>
            <a:ext cx="2103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2267712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D6E5"/>
                </a:solidFill>
                <a:latin typeface="Aptos"/>
              </a:rPr>
              <a:t>PROACTIVE · Network ACL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267712"/>
            <a:ext cx="29169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Least-privilege segmentation preserves required business flows while cutting lateral paths. [6, 13]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267712"/>
            <a:ext cx="3099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Planned SDN testbed: Mininet + OVS on Linux; Docker may host endpoints, not the OpenFlow datapath.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67712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DD6E5"/>
                </a:solidFill>
                <a:latin typeface="Aptos"/>
              </a:rPr>
              <a:t>SELECT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752344"/>
            <a:ext cx="210312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61488" y="2752344"/>
            <a:ext cx="306324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24728" y="2752344"/>
            <a:ext cx="324612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70848" y="2752344"/>
            <a:ext cx="210312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2752344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7B86"/>
                </a:solidFill>
                <a:latin typeface="Aptos"/>
              </a:rPr>
              <a:t>REACTIVE · Network 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752344"/>
            <a:ext cx="29169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Block a specific attacker-relevant flow after a confirmed alert.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752344"/>
            <a:ext cx="3099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Existing `block_flow` simulation; add typed trigger and narrow firewall adapter.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52344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F7B86"/>
                </a:solidFill>
                <a:latin typeface="Aptos"/>
              </a:rPr>
              <a:t>SELECT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236976"/>
            <a:ext cx="2103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61488" y="3236976"/>
            <a:ext cx="306324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24728" y="3236976"/>
            <a:ext cx="3246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70848" y="3236976"/>
            <a:ext cx="2103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3236976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3D7A5"/>
                </a:solidFill>
                <a:latin typeface="Aptos"/>
              </a:rPr>
              <a:t>PROACTIVE · Host hardening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3236976"/>
            <a:ext cx="29169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Patch a known flaw or disable an explicitly unused exposed service. [14]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236976"/>
            <a:ext cx="3099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Existing simulation; allowlisted Ansible task on disposable Linux guest.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236976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3D7A5"/>
                </a:solidFill>
                <a:latin typeface="Aptos"/>
              </a:rPr>
              <a:t>SELECT
(testbed only)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3721608"/>
            <a:ext cx="210312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61488" y="3721608"/>
            <a:ext cx="306324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24728" y="3721608"/>
            <a:ext cx="324612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70848" y="3721608"/>
            <a:ext cx="210312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" y="3721608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C66D"/>
                </a:solidFill>
                <a:latin typeface="Aptos"/>
              </a:rPr>
              <a:t>REACTIVE · Host quarantine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3721608"/>
            <a:ext cx="29169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Contain a confirmed compromised host while retaining recovery access. [15]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3721608"/>
            <a:ext cx="3099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Existing isolation is coarse; refine to restricted firewall/EDR profile.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721608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FC66D"/>
                </a:solidFill>
                <a:latin typeface="Aptos"/>
              </a:rPr>
              <a:t>SELECT
(refine first)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4206240"/>
            <a:ext cx="2103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61488" y="4206240"/>
            <a:ext cx="306324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24728" y="4206240"/>
            <a:ext cx="3246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70848" y="4206240"/>
            <a:ext cx="2103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" y="4206240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D8CFF"/>
                </a:solidFill>
                <a:latin typeface="Aptos"/>
              </a:rPr>
              <a:t>MTD · Retained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4206240"/>
            <a:ext cx="29169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Software diversity and IP/port shuffle remain distinct comparison controls.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4206240"/>
            <a:ext cx="3099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Existing simulated actions; platform-specific deployment, not removed.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206240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D8CFF"/>
                </a:solidFill>
                <a:latin typeface="Aptos"/>
              </a:rPr>
              <a:t>RETAIN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690872"/>
            <a:ext cx="210312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61488" y="4690872"/>
            <a:ext cx="306324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24728" y="4690872"/>
            <a:ext cx="324612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0848" y="4690872"/>
            <a:ext cx="2103120" cy="452628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19" y="4690872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DD6E5"/>
                </a:solidFill>
                <a:latin typeface="Aptos"/>
              </a:rPr>
              <a:t>DEFER · DNS / NTA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4690872"/>
            <a:ext cx="29169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DNS block/sinkhole and network detection need resolver/sensor data. [9, 10, 12]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80" y="4690872"/>
            <a:ext cx="3099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Add domain state, telemetry confidence, false positives, and delay.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4690872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DD6E5"/>
                </a:solidFill>
                <a:latin typeface="Aptos"/>
              </a:rPr>
              <a:t>OUT OF SCOPE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" y="5175504"/>
            <a:ext cx="2103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61488" y="5175504"/>
            <a:ext cx="306324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824728" y="5175504"/>
            <a:ext cx="3246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70848" y="5175504"/>
            <a:ext cx="2103120" cy="452628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19" y="5175504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AB7C8"/>
                </a:solidFill>
                <a:latin typeface="Aptos"/>
              </a:rPr>
              <a:t>DEFER · ZTNA / QoS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34640" y="5175504"/>
            <a:ext cx="2916936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Identity-aware access and rate limiting require identity or traffic-load models. [7, 11]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0" y="5175504"/>
            <a:ext cx="3099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4F7FB"/>
                </a:solidFill>
                <a:latin typeface="Aptos"/>
              </a:rPr>
              <a:t>Add users/devices/sessions or capacity, latency, and throughput first.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5175504"/>
            <a:ext cx="1956815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7C8"/>
                </a:solidFill>
                <a:latin typeface="Aptos"/>
              </a:rPr>
              <a:t>OUT OF SCOPE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232" y="5824728"/>
            <a:ext cx="10835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AAB7C8"/>
                </a:solidFill>
                <a:latin typeface="Aptos"/>
              </a:rPr>
              <a:t>MTD remains in the portfolio. Simulator actions are not live controls; SDN validation targets Mininet/OVS on isolated Linux.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03 / PROPOSED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Implementation blueprint: simulate first, then validate with Mininet/OVS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MTD does not require SDN. Current controller is an emulator; Mininet/OVS is the planned Linux testbed. Docker may host endpoints but is not an OpenFlow datapath by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01368"/>
            <a:ext cx="10771632" cy="8686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801368"/>
            <a:ext cx="54864" cy="868680"/>
          </a:xfrm>
          <a:prstGeom prst="rect">
            <a:avLst/>
          </a:prstGeom>
          <a:solidFill>
            <a:srgbClr val="4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11095"/>
            <a:ext cx="20391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DD6E5"/>
                </a:solidFill>
                <a:latin typeface="Aptos"/>
              </a:rPr>
              <a:t>PROACTIVE ·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1892807"/>
            <a:ext cx="54223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Preview least-privilege segmentation and MTD IP remapping against a copied topology; apply only the selected feasible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892807"/>
            <a:ext cx="27614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7C8"/>
                </a:solidFill>
                <a:latin typeface="Aptos"/>
              </a:rPr>
              <a:t>Measure risk, availability, performance, cost, SDN policy updates and changed virtual-IP mappings.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834639"/>
            <a:ext cx="10771632" cy="8686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834639"/>
            <a:ext cx="54864" cy="86868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944368"/>
            <a:ext cx="20391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C66D"/>
                </a:solidFill>
                <a:latin typeface="Aptos"/>
              </a:rPr>
              <a:t>REACTIVE ·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926079"/>
            <a:ext cx="54223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On a confirmed / injected alert, preview a narrow flow block and replan; controller policy changes remain simulated.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926079"/>
            <a:ext cx="27614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7C8"/>
                </a:solidFill>
                <a:latin typeface="Aptos"/>
              </a:rPr>
              <a:t>Test alert-to-action trace, legitimate-flow impact, policy-update count, feasibility.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67911"/>
            <a:ext cx="10771632" cy="8686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867911"/>
            <a:ext cx="54864" cy="868680"/>
          </a:xfrm>
          <a:prstGeom prst="rect">
            <a:avLst/>
          </a:prstGeom>
          <a:solidFill>
            <a:srgbClr val="5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977639"/>
            <a:ext cx="20391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D8CFF"/>
                </a:solidFill>
                <a:latin typeface="Aptos"/>
              </a:rPr>
              <a:t>PROACTIVE ·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959351"/>
            <a:ext cx="54223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Use current patch / disable-service simulation actions; testbed actuation only through allowlisted Ansible tasks on disposable Linux hosts.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959351"/>
            <a:ext cx="27614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7C8"/>
                </a:solidFill>
                <a:latin typeface="Aptos"/>
              </a:rPr>
              <a:t>Check target state, service health, legitimate workflows and rollback; no generic production patching.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901183"/>
            <a:ext cx="10771632" cy="8686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4901183"/>
            <a:ext cx="54864" cy="868680"/>
          </a:xfrm>
          <a:prstGeom prst="rect">
            <a:avLst/>
          </a:prstGeom>
          <a:solidFill>
            <a:srgbClr val="73D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010912"/>
            <a:ext cx="20391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3D7A5"/>
                </a:solidFill>
                <a:latin typeface="Aptos"/>
              </a:rPr>
              <a:t>REACTIVE · 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4992623"/>
            <a:ext cx="542239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FB"/>
                </a:solidFill>
                <a:latin typeface="Aptos"/>
              </a:rPr>
              <a:t>Quarantine a confirmed host only after preserving controller / recovery paths. Keep MTD diversity and shuffle as separate baselines.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4992623"/>
            <a:ext cx="276148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7C8"/>
                </a:solidFill>
                <a:latin typeface="Aptos"/>
              </a:rPr>
              <a:t>Refine coarse isolate model; require approval, timed rollback. Compare MTD-only / non-MTD / combined.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605332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C66D"/>
                </a:solidFill>
                <a:latin typeface="Aptos"/>
              </a:rPr>
              <a:t>Defer DNS/NTA (resolver / sensor state), ZTNA (identity / policy enforcement), rate limits (traffic/QoS model), and production actuation.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03 / PROPOSED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Constrained defense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For a candidate action set A, evaluate the simulated network N′ = Apply(N, A).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47088"/>
            <a:ext cx="6903720" cy="1298448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76272"/>
            <a:ext cx="6419088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4F7FB"/>
                </a:solidFill>
                <a:latin typeface="Aptos"/>
              </a:rPr>
              <a:t>U(A) = wₛ · (1 − Risk(N′))  +  wₐ · Availability(N′)  +  wₚ · Performance(N′)  −  w꜀ · Cost(A)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47088"/>
            <a:ext cx="3493008" cy="129844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847088"/>
            <a:ext cx="50292" cy="1298448"/>
          </a:xfrm>
          <a:prstGeom prst="rect">
            <a:avLst/>
          </a:prstGeom>
          <a:solidFill>
            <a:srgbClr val="4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2011680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DD6E5"/>
                </a:solidFill>
                <a:latin typeface="Aptos"/>
              </a:rPr>
              <a:t>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441448"/>
            <a:ext cx="3108960" cy="5669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Greedy marginal-utility selection; compare with stronger baselines.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74720"/>
            <a:ext cx="3401568" cy="14813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474720"/>
            <a:ext cx="50292" cy="1481328"/>
          </a:xfrm>
          <a:prstGeom prst="rect">
            <a:avLst/>
          </a:prstGeom>
          <a:solidFill>
            <a:srgbClr val="FF7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9312"/>
            <a:ext cx="3017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7B86"/>
                </a:solidFill>
                <a:latin typeface="Aptos"/>
              </a:rPr>
              <a:t>Security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301752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F7FB"/>
                </a:solidFill>
                <a:latin typeface="Aptos"/>
              </a:rPr>
              <a:t>Reduce value-weighted probability of attacker goals over modeled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74720"/>
            <a:ext cx="3401568" cy="14813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474720"/>
            <a:ext cx="50292" cy="1481328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639312"/>
            <a:ext cx="3017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Operational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069080"/>
            <a:ext cx="301752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F7FB"/>
                </a:solidFill>
                <a:latin typeface="Aptos"/>
              </a:rPr>
              <a:t>Preserve minimum legitimate-flow availability and asset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474720"/>
            <a:ext cx="3493008" cy="148132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3474720"/>
            <a:ext cx="50292" cy="1481328"/>
          </a:xfrm>
          <a:prstGeom prst="rect">
            <a:avLst/>
          </a:prstGeom>
          <a:solidFill>
            <a:srgbClr val="73D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639312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3D7A5"/>
                </a:solidFill>
                <a:latin typeface="Aptos"/>
              </a:rPr>
              <a:t>Budget and action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4069080"/>
            <a:ext cx="31089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F7FB"/>
                </a:solidFill>
                <a:latin typeface="Aptos"/>
              </a:rPr>
              <a:t>Respect budget; account for deployment and operational impact.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413248"/>
            <a:ext cx="10607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C66D"/>
                </a:solidFill>
                <a:latin typeface="Aptos"/>
              </a:rPr>
              <a:t>Critical validation: path independence, probability calibration, utility-weight sensitivity, and monotonicity under coupled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03 / PROPOSED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Closed-loop adaptation: current prototype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Implemented loop: attack → partial observation → re-plan → apply to model → log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14884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 w="12700">
            <a:solidFill>
              <a:srgbClr val="FF7B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95144"/>
            <a:ext cx="411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7B8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2295144"/>
            <a:ext cx="1188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B86"/>
                </a:solidFill>
                <a:latin typeface="Aptos"/>
              </a:rPr>
              <a:t>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16352"/>
            <a:ext cx="16276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Adapter returns
success / path / goal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1" y="2907792"/>
            <a:ext cx="246889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71800" y="214884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 w="1270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295144"/>
            <a:ext cx="411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C66D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95144"/>
            <a:ext cx="1188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C66D"/>
                </a:solidFill>
                <a:latin typeface="Aptos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816352"/>
            <a:ext cx="16276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Sample detection on
intermediate hosts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56048" y="2907792"/>
            <a:ext cx="246888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48656" y="214884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 w="12700">
            <a:solidFill>
              <a:srgbClr val="4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295144"/>
            <a:ext cx="411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DD6E5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2295144"/>
            <a:ext cx="1188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DD6E5"/>
                </a:solidFill>
                <a:latin typeface="Aptos"/>
              </a:rPr>
              <a:t>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816352"/>
            <a:ext cx="16276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Mark detected hosts
as compromised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32904" y="2907792"/>
            <a:ext cx="246888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25512" y="214884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 w="12700">
            <a:solidFill>
              <a:srgbClr val="5D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295144"/>
            <a:ext cx="411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D8C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295144"/>
            <a:ext cx="1188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D8CFF"/>
                </a:solidFill>
                <a:latin typeface="Aptos"/>
              </a:rPr>
              <a:t>Re-plan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2816352"/>
            <a:ext cx="16276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Simulate actions;
select feasible plan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09760" y="2907792"/>
            <a:ext cx="246888" cy="0"/>
          </a:xfrm>
          <a:prstGeom prst="line">
            <a:avLst/>
          </a:prstGeom>
          <a:ln w="25400">
            <a:solidFill>
              <a:srgbClr val="4DD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02368" y="214884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 w="12700">
            <a:solidFill>
              <a:srgbClr val="73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2295144"/>
            <a:ext cx="4114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73D7A5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96728" y="2295144"/>
            <a:ext cx="1188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3D7A5"/>
                </a:solidFill>
                <a:latin typeface="Aptos"/>
              </a:rPr>
              <a:t>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816352"/>
            <a:ext cx="1627632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Risk, QoS, cost,
and success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4279392"/>
            <a:ext cx="5148072" cy="1078992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4279392"/>
            <a:ext cx="50292" cy="1078992"/>
          </a:xfrm>
          <a:prstGeom prst="rect">
            <a:avLst/>
          </a:prstGeom>
          <a:solidFill>
            <a:srgbClr val="73D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443983"/>
            <a:ext cx="47640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3D7A5"/>
                </a:solidFill>
                <a:latin typeface="Aptos"/>
              </a:rPr>
              <a:t>Implemented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73752"/>
            <a:ext cx="4764024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Deterministic seedable loop; AttackResult; configurable detection probability; stability-based stop.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279392"/>
            <a:ext cx="5276088" cy="1078992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279392"/>
            <a:ext cx="50292" cy="1078992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4443983"/>
            <a:ext cx="4892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Not yet established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873752"/>
            <a:ext cx="4892040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FB"/>
                </a:solidFill>
                <a:latin typeface="Aptos"/>
              </a:rPr>
              <a:t>Online learning quality, real sensor fidelity, adaptive live attacker integration, and production safety.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696712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AAB7C8"/>
                </a:solidFill>
                <a:latin typeface="Aptos"/>
              </a:rPr>
              <a:t>TrainingLoop supports an optional proactive initial plan, then alert-triggered response. SDN model is simulation-only; no real controller is programmed.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04 / EXPERIMENTS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Evaluation plan: answer the RQs with controlled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Use generated benchmark topologies and synthetic stress tests; keep attack tooling isolated from production networks.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10512"/>
            <a:ext cx="1325880" cy="411480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1234439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810512"/>
            <a:ext cx="3200400" cy="411480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10512"/>
            <a:ext cx="31089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Experimental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810512"/>
            <a:ext cx="3017520" cy="411480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10512"/>
            <a:ext cx="2926079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Baselines / ablations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10512"/>
            <a:ext cx="3127248" cy="411480"/>
          </a:xfrm>
          <a:prstGeom prst="rect">
            <a:avLst/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10512"/>
            <a:ext cx="3035808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DD6E5"/>
                </a:solidFill>
                <a:latin typeface="Aptos"/>
              </a:rPr>
              <a:t>Primary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267712"/>
            <a:ext cx="132588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286000"/>
            <a:ext cx="1197864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66D"/>
                </a:solidFill>
                <a:latin typeface="Aptos"/>
              </a:rPr>
              <a:t>RQ1
Security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267712"/>
            <a:ext cx="320040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75688" y="2286000"/>
            <a:ext cx="3072384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Repeated campaigns across topology families; compare pre/post action outcomes.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267712"/>
            <a:ext cx="301752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2286000"/>
            <a:ext cx="2889503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No defense; static ACL; host-only; network-only; full ABT.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267712"/>
            <a:ext cx="3127248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286000"/>
            <a:ext cx="2999232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Goal success; residual risk; time-to-containment.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90672"/>
            <a:ext cx="132588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108960"/>
            <a:ext cx="1197864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66D"/>
                </a:solidFill>
                <a:latin typeface="Aptos"/>
              </a:rPr>
              <a:t>RQ2
QoS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3090672"/>
            <a:ext cx="320040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75688" y="3108960"/>
            <a:ext cx="3072384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Replay legitimate workload traces under each defense plan.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3090672"/>
            <a:ext cx="301752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76088" y="3108960"/>
            <a:ext cx="2889503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Unconstrained planner; per-control ablations.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090672"/>
            <a:ext cx="3127248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3108960"/>
            <a:ext cx="2999232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Flow availability; latency / throughput; violations.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913632"/>
            <a:ext cx="132588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931920"/>
            <a:ext cx="1197864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66D"/>
                </a:solidFill>
                <a:latin typeface="Aptos"/>
              </a:rPr>
              <a:t>RQ3
Scale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3913632"/>
            <a:ext cx="320040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3931920"/>
            <a:ext cx="3072384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Grow hosts, edges, goals, and candidate actions; profile planner.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3913632"/>
            <a:ext cx="3017520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76088" y="3931920"/>
            <a:ext cx="2889503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Greedy vs beam / exact on small instances.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913632"/>
            <a:ext cx="3127248" cy="786384"/>
          </a:xfrm>
          <a:prstGeom prst="rect">
            <a:avLst/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3931920"/>
            <a:ext cx="2999232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Runtime; memory; utility gap; action count.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736592"/>
            <a:ext cx="132588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4754879"/>
            <a:ext cx="1197864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66D"/>
                </a:solidFill>
                <a:latin typeface="Aptos"/>
              </a:rPr>
              <a:t>RQ4
Adapt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4736592"/>
            <a:ext cx="320040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75688" y="4754879"/>
            <a:ext cx="3072384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Vary detection rate, attacker persistence, and model error across seeds.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736592"/>
            <a:ext cx="3017520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76088" y="4754879"/>
            <a:ext cx="2889503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Static plan; no feedback; perfect / noisy detection.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4736592"/>
            <a:ext cx="3127248" cy="786384"/>
          </a:xfrm>
          <a:prstGeom prst="rect">
            <a:avLst/>
          </a:prstGeom>
          <a:solidFill>
            <a:srgbClr val="101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93608" y="4754879"/>
            <a:ext cx="2999232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4F7FB"/>
                </a:solidFill>
                <a:latin typeface="Aptos"/>
              </a:rPr>
              <a:t>Rounds to stable plan; residual risk; variance.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" y="5650992"/>
            <a:ext cx="10744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3D7A5"/>
                </a:solidFill>
                <a:latin typeface="Aptos"/>
              </a:rPr>
              <a:t>Protocol: fixed seeds + multiple runs; report confidence intervals; publish configs, importer fixtures, and raw metric outputs.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04 / EXPERIMENTS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What has been verified—and what has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Separate functional validation from research-grade empirical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340156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0292" cy="3401568"/>
          </a:xfrm>
          <a:prstGeom prst="rect">
            <a:avLst/>
          </a:prstGeom>
          <a:solidFill>
            <a:srgbClr val="73D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48737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3D7A5"/>
                </a:solidFill>
                <a:latin typeface="Aptos"/>
              </a:rPr>
              <a:t>Verified in the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23160"/>
            <a:ext cx="4873752" cy="2670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F7FB"/>
                </a:solidFill>
                <a:latin typeface="Aptos"/>
              </a:rPr>
              <a:t>• HARM paths and goal probability on a synthetic five-host network
• MHBench- and APT-Agent-shaped importer fixtures
• Candidate-action simulation and availability constraints
• Seeded multi-round loop with partial-detection tests
• Demo: illustrative model risk 0.468 → 0.000; availability 1.00 → 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28800"/>
            <a:ext cx="5257800" cy="3401568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50292" cy="3401568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93392"/>
            <a:ext cx="48737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Not yet 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4873752" cy="2670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4F7FB"/>
                </a:solidFill>
                <a:latin typeface="Aptos"/>
              </a:rPr>
              <a:t>• Real MHBench campaign results or live attacker integration
• Calibrated exploit / detection probabilities
• Statistical evidence, confidence intervals, or scalability results
• Operational network-controller actuation
• The demo values are simulator outputs, not measured security efficacy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605272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7B86"/>
                </a:solidFill>
                <a:latin typeface="Aptos"/>
              </a:rPr>
              <a:t>The current demo is a feasibility check only; it must not be reported as an experimental result.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05 /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Limitations and threats to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These are research risks to address—not footnotes to hide.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3419856" cy="15544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47088"/>
            <a:ext cx="50292" cy="1554480"/>
          </a:xfrm>
          <a:prstGeom prst="rect">
            <a:avLst/>
          </a:prstGeom>
          <a:solidFill>
            <a:srgbClr val="5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30358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D8CFF"/>
                </a:solidFill>
                <a:latin typeface="Aptos"/>
              </a:rPr>
              <a:t>Model fidelity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41448"/>
            <a:ext cx="303580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B"/>
                </a:solidFill>
                <a:latin typeface="Aptos"/>
              </a:rPr>
              <a:t>Imported schemas omit or approximate protocols, identity, state, and application semantics.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47088"/>
            <a:ext cx="3419856" cy="15544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1847088"/>
            <a:ext cx="50292" cy="1554480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2011680"/>
            <a:ext cx="30358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66D"/>
                </a:solidFill>
                <a:latin typeface="Aptos"/>
              </a:rPr>
              <a:t>Probability 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441448"/>
            <a:ext cx="303580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B"/>
                </a:solidFill>
                <a:latin typeface="Aptos"/>
              </a:rPr>
              <a:t>CVSS and flat playbook defaults are not calibrated exploit-success probabilities.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1847088"/>
            <a:ext cx="3419856" cy="15544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7" y="1847088"/>
            <a:ext cx="50292" cy="1554480"/>
          </a:xfrm>
          <a:prstGeom prst="rect">
            <a:avLst/>
          </a:prstGeom>
          <a:solidFill>
            <a:srgbClr val="FF7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011680"/>
            <a:ext cx="30358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7B86"/>
                </a:solidFill>
                <a:latin typeface="Aptos"/>
              </a:rPr>
              <a:t>Dependence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441448"/>
            <a:ext cx="303580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B"/>
                </a:solidFill>
                <a:latin typeface="Aptos"/>
              </a:rPr>
              <a:t>Noisy-OR across vulnerabilities and paths may overcount correlated opportunities.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21608"/>
            <a:ext cx="3419856" cy="15544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21608"/>
            <a:ext cx="50292" cy="1554480"/>
          </a:xfrm>
          <a:prstGeom prst="rect">
            <a:avLst/>
          </a:prstGeom>
          <a:solidFill>
            <a:srgbClr val="4D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886200"/>
            <a:ext cx="30358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DD6E5"/>
                </a:solidFill>
                <a:latin typeface="Aptos"/>
              </a:rPr>
              <a:t>Detection / adaptation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315968"/>
            <a:ext cx="303580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B"/>
                </a:solidFill>
                <a:latin typeface="Aptos"/>
              </a:rPr>
              <a:t>Simulated MIR detection and persistence do not reproduce real sensor errors or attacker replanning.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8264" y="3721608"/>
            <a:ext cx="3419856" cy="15544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8264" y="3721608"/>
            <a:ext cx="50292" cy="1554480"/>
          </a:xfrm>
          <a:prstGeom prst="rect">
            <a:avLst/>
          </a:prstGeom>
          <a:solidFill>
            <a:srgbClr val="73D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3886200"/>
            <a:ext cx="30358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3D7A5"/>
                </a:solidFill>
                <a:latin typeface="Aptos"/>
              </a:rPr>
              <a:t>Utility subjectivity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4315968"/>
            <a:ext cx="303580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B"/>
                </a:solidFill>
                <a:latin typeface="Aptos"/>
              </a:rPr>
              <a:t>Weights and hard thresholds can change rankings; conduct sensitivity analysis with stakeholders.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0727" y="3721608"/>
            <a:ext cx="3419856" cy="1554480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0727" y="3721608"/>
            <a:ext cx="50292" cy="1554480"/>
          </a:xfrm>
          <a:prstGeom prst="rect">
            <a:avLst/>
          </a:prstGeom>
          <a:solidFill>
            <a:srgbClr val="5D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3886200"/>
            <a:ext cx="30358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D8CFF"/>
                </a:solidFill>
                <a:latin typeface="Aptos"/>
              </a:rPr>
              <a:t>Safety / external validity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315968"/>
            <a:ext cx="3035808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FB"/>
                </a:solidFill>
                <a:latin typeface="Aptos"/>
              </a:rPr>
              <a:t>No live enforcement yet; simulator outcomes may not transfer to production networks.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806440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ptos"/>
              </a:rPr>
              <a:t>Mitigation: calibrate on isolated testbeds, perturb model assumptions, and retain a human approval gate for real actions.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06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From prototype to a defensible DSN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Prioritize measurable evidence and model validity before expanding the action catalogue.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883664"/>
            <a:ext cx="1371600" cy="585216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4D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57400"/>
            <a:ext cx="1188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DD6E5"/>
                </a:solidFill>
                <a:latin typeface="Aptos"/>
              </a:rPr>
              <a:t>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1883664"/>
            <a:ext cx="8961120" cy="585216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2002536"/>
            <a:ext cx="8503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FB"/>
                </a:solidFill>
                <a:latin typeface="Aptos"/>
              </a:rPr>
              <a:t>Define typed policy semantics and tests; refine segmentation actions from existing flow primitives.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6464" y="2468880"/>
            <a:ext cx="32004" cy="25603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2761488"/>
            <a:ext cx="1371600" cy="585216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5D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935224"/>
            <a:ext cx="1188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D8CFF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9152" y="2761488"/>
            <a:ext cx="8961120" cy="585216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2880360"/>
            <a:ext cx="8503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FB"/>
                </a:solidFill>
                <a:latin typeface="Aptos"/>
              </a:rPr>
              <a:t>Add egress / exfiltration semantics, then DNS decisions and typed network telemetry.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6464" y="3346704"/>
            <a:ext cx="32004" cy="25603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" y="3639312"/>
            <a:ext cx="1371600" cy="585216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813048"/>
            <a:ext cx="1188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C66D"/>
                </a:solidFill>
                <a:latin typeface="Aptos"/>
              </a:rPr>
              <a:t>THEN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9152" y="3639312"/>
            <a:ext cx="8961120" cy="585216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8608" y="3758184"/>
            <a:ext cx="8503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FB"/>
                </a:solidFill>
                <a:latin typeface="Aptos"/>
              </a:rPr>
              <a:t>Add graduated quarantine; calibrate models and run isolated benchmark campaigns.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26464" y="4224528"/>
            <a:ext cx="32004" cy="25603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" y="4517136"/>
            <a:ext cx="1371600" cy="585216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 w="12700">
            <a:solidFill>
              <a:srgbClr val="73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690872"/>
            <a:ext cx="1188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3D7A5"/>
                </a:solidFill>
                <a:latin typeface="Aptos"/>
              </a:rPr>
              <a:t>FINAL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59152" y="4517136"/>
            <a:ext cx="8961120" cy="585216"/>
          </a:xfrm>
          <a:prstGeom prst="roundRect">
            <a:avLst>
              <a:gd name="adj" fmla="val 12000"/>
            </a:avLst>
          </a:prstGeom>
          <a:solidFill>
            <a:srgbClr val="13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8608" y="4636007"/>
            <a:ext cx="8503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FB"/>
                </a:solidFill>
                <a:latin typeface="Aptos"/>
              </a:rPr>
              <a:t>Compare planners; analyze QoS / uncertainty; release reproducible artifacts.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650992"/>
            <a:ext cx="1069848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66D"/>
                </a:solidFill>
                <a:latin typeface="Aptos"/>
              </a:rPr>
              <a:t>Key decision gate: only claim closed-loop effectiveness after repeated, statistically supported benchmark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06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ABT is a promising integration hypothesis; the next contribution is rigorous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874519"/>
            <a:ext cx="10561320" cy="224028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21992"/>
            <a:ext cx="28346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4DD6E5"/>
                </a:solidFill>
                <a:latin typeface="Aptos"/>
              </a:rPr>
              <a:t>A blue team should ask: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761488"/>
            <a:ext cx="9646920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4F7FB"/>
                </a:solidFill>
                <a:latin typeface="Aptos"/>
              </a:rPr>
              <a:t>Which feasible defense action most reduces the attacker’s goal probability—and does it preserve the services we must protect?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53712"/>
            <a:ext cx="9875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AAB7C8"/>
                </a:solidFill>
                <a:latin typeface="Aptos"/>
              </a:rPr>
              <a:t>ABT’s proposal: answer with an attack-graph model, action simulation, operational constraints, and observed feedback.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04688"/>
            <a:ext cx="7315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C66D"/>
                </a:solidFill>
                <a:latin typeface="Aptos"/>
              </a:rPr>
              <a:t>Thank you  ·  Questions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DD6E5"/>
                </a:solidFill>
                <a:latin typeface="Apto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7FB"/>
                </a:solidFill>
                <a:latin typeface="Aptos"/>
              </a:rPr>
              <a:t>Selected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2161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7C8"/>
                </a:solidFill>
                <a:latin typeface="Aptos"/>
              </a:rPr>
              <a:t>Inline [n] citations map to these sources. Verify bibliographic metadata before submission.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91088" cy="10972"/>
          </a:xfrm>
          <a:prstGeom prst="rect">
            <a:avLst/>
          </a:prstGeom>
          <a:solidFill>
            <a:srgbClr val="2C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ABT  |  DSN 2027 research-in-progress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7C8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19072"/>
            <a:ext cx="5212080" cy="4663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[1] S. Y. Enoch et al., “HARMer: Cyber-attacks Automation and Evaluation,” IEEE Access, 2020. doi:10.1109/ACCESS.2020.3007849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[2] S. Y. Enoch et al., “Novel Security Models, Metrics and Security Assessment for Maritime Vessel Networks,” Computer Networks, 2021. doi:10.1016/j.comnet.2021.107934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[3] “Incalmo: An Autonomous LLM-Assisted System for Red Teaming Multi-Host Networks,” arXiv:2501.16466, 2025.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[4] “APT-Agent: Automated Penetration Testing using Large Language Models,” arXiv:2605.24949, 2026.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[5] MHBench, Multi-Host Cyberrange Environment Generator, github.com/cylabcyberautonomy/MHBench.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[6] R. Chandramouli, NIST SP 800-215, Guide to a Secure Enterprise Network Landscape, 2022. doi:10.6028/NIST.SP.800-215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[7] S. Rose et al., NIST SP 800-207, Zero Trust Architecture, 2020. doi:10.6028/NIST.SP.800-207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[8] MITRE D3FEND, Outbound Traffic Filtering (D3-OTF): https://d3fend.mitre.org/technique/d3f:OutboundTrafficFiltering/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719072"/>
            <a:ext cx="5266944" cy="4663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[9] MITRE D3FEND, Network Traffic Analysis (D3-NTA): https://d3fend.mitre.org/technique/d3f:NetworkTrafficAnalysis/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[10] CISA, Protective Domain Name System (DNS) Resolver: https://www.cisa.gov/resources-tools/services/protective-domain-name-system-dns-resolver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[11] CISA, Zero Trust Maturity Model v2.0: https://www.cisa.gov/resources-tools/resources/zero-trust-maturity-model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[12] MITRE D3FEND, DNS Denylisting (D3-DNSDL): https://d3fend.mitre.org/technique/d3f:DNSDenylisting/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[13] K. Scarfone and P. Hoffman, NIST SP 800-41 Rev. 1, Guidelines on Firewalls and Firewall Policy, 2009. doi:10.6028/NIST.SP.800-41r1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[14] NIST SP 800-53 Rev. 5, Security and Privacy Controls, 2020. doi:10.6028/NIST.SP.800-53r5</a:t>
            </a:r>
          </a:p>
          <a:p>
            <a:pPr>
              <a:spcAft>
                <a:spcPts val="500"/>
              </a:spcAft>
              <a:defRPr sz="1000">
                <a:solidFill>
                  <a:srgbClr val="F4F7FB"/>
                </a:solidFill>
                <a:latin typeface="Aptos"/>
              </a:defRPr>
            </a:pPr>
            <a:r>
              <a:t>•  [15] CISA, Federal Government Cybersecurity Incident and Vulnerability Response Playbooks: cisa.gov/resources-tools/resources/federal-government-cybersecurity-incident-and-vulnerability-response-playbooks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ABT: Goal-Aware Automated Blue Teaming</dc:title>
  <dc:subject>Research-in-progress presentation for DSN 2027</dc:subject>
  <dc:creator>ABT research team</dc:creator>
  <cp:keywords>automated blue teaming, attack graphs, network defense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